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308B00-39EB-43C3-9E46-75562B463069}">
  <a:tblStyle styleId="{98308B00-39EB-43C3-9E46-75562B4630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7d9b6323e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e7d9b6323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e7d9b6323e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u remake this first slide i want to add my university logo and its white and red in color "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365760" y="914400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365760" y="914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22960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22960" y="14447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65760" y="1975104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65760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22960" y="197510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Subject Integration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65760" y="2505456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65760" y="25054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22960" y="25054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 and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65760" y="3035808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365760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22960" y="30358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5760" y="3566160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365760" y="3566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22960" y="35661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65760" y="4096512"/>
            <a:ext cx="347472" cy="347472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65760" y="4096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22960" y="40965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846320" y="914400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846320" y="914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303520" y="9144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Industry Relevance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846320" y="1444752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84632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303520" y="144475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846320" y="1975104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846320" y="19751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303520" y="19751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Ethical Considerations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846320" y="2505456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846320" y="25054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303520" y="250545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46320" y="3035808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846320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303520" y="30358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46320" y="3566160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846320" y="3566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303520" y="3566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20040" y="914400"/>
            <a:ext cx="40233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20040" y="914400"/>
            <a:ext cx="64008" cy="10241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48056" y="1005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48056" y="129844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Retro Game Hub is a browser-based arcade platform recreating classic notebook games — Tic-Tac-Toe, Dots &amp; Boxes, Snakes &amp; Ladders and more. Built using only HTML, CSS, and Vanilla JavaScript across 13 files (~4,200 lines) with zero external dependencies.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434840" y="914400"/>
            <a:ext cx="438912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434840" y="914400"/>
            <a:ext cx="64008" cy="10241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562856" y="100584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62856" y="12984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a compact, offline-capable gaming platform showcasing game logic, UI design, LocalStorage state persistence, and AI via Minimax &amp; Alpha-Beta pruning. Accessible on any device, anywhere — even without internet.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20040" y="2029968"/>
            <a:ext cx="40233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20040" y="2029968"/>
            <a:ext cx="64008" cy="10241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48056" y="21214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48056" y="241401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Most retro games are isolated mobile apps — bloated with ads, requiring accounts and data connections. There is a gap for a lightweight, browser-accessible hub that runs offline on any device with a unified player profile system.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434840" y="2029968"/>
            <a:ext cx="438912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434840" y="2029968"/>
            <a:ext cx="64008" cy="10241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562856" y="212140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62856" y="241401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 playable games · Player profiles with PIN auth · Coin reward economy · Per-game &amp; global leaderboards · 4 retro display themes · Procedural sound engine (7 music tracks, 12 SFX) · Responsive UI (360 px – 1440 px)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0040" y="3145536"/>
            <a:ext cx="8503920" cy="155448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3145536"/>
            <a:ext cx="8503920" cy="31089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20040" y="3145536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3493008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a multi-game web app using only HTML, CSS &amp; Vanilla 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 persistent player profiles &amp; reward tracking using LocalStorage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709160" y="3493008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AI opponents (Minimax, Alpha-Beta, Hunt/Target, Heuristic) for multiple games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Provide a polished retro interface with sound, themes &amp; responsive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REVIEW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20040" y="914400"/>
            <a:ext cx="2743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20040" y="914400"/>
            <a:ext cx="64008" cy="1280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48056" y="10058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Single-Game Implementations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48056" y="129844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Focus on one classic title (e.g. standalone Tetris or Tic-Tac-Toe clones) with no unified player system or progression. Simple to host but no cohesion.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00400" y="914400"/>
            <a:ext cx="2743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200400" y="914400"/>
            <a:ext cx="64008" cy="1280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328416" y="10058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Framework-Dependent Portals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328416" y="129844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Multi-game portals built on React / Angular. Heavier footprint, harder to host as a single static folder, and dependency-bound.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080760" y="914400"/>
            <a:ext cx="27432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080760" y="914400"/>
            <a:ext cx="64008" cy="1280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208776" y="10058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Server-Dependent Platforms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208776" y="1298448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Require a backend to store player data. Cannot work offline and need a persistent internet connection to function.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20040" y="2331720"/>
            <a:ext cx="8503920" cy="31089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320040" y="233172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COMPARATIVE STUDY — Retro Game Hub vs Existing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7"/>
          <p:cNvGraphicFramePr/>
          <p:nvPr/>
        </p:nvGraphicFramePr>
        <p:xfrm>
          <a:off x="32004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{98308B00-39EB-43C3-9E46-75562B463069}</a:tableStyleId>
              </a:tblPr>
              <a:tblGrid>
                <a:gridCol w="2560325"/>
                <a:gridCol w="1463050"/>
                <a:gridCol w="1463050"/>
                <a:gridCol w="1463050"/>
                <a:gridCol w="15544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Standalone Clones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 Portals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Platforms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Retro Game Hub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install required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games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offline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Player profiles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opponents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Sometimes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dependencies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SUBJECT INTEGRATION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74320" y="91440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274320" y="914400"/>
            <a:ext cx="425196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65760" y="91440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CS23201  |  Data Structures &amp; Algorithms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65760" y="129844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Arrays, Stacks, Queues, Game Trees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65760" y="157276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Game state management, board representation (Tic-Tac-Toe, Connect Four), Minimax AI using tree structures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09160" y="91440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709160" y="914400"/>
            <a:ext cx="4251960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800600" y="91440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CS23202  |  Web Technologies &amp; Vulnerabilities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800600" y="129844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HTML, CSS, JS, LocalStorage, Web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800600" y="157276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Complete frontend UI, responsive design, secure PIN-based login, avoiding plain-text storage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4320" y="233172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74320" y="2331720"/>
            <a:ext cx="425196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65760" y="233172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CS23203  |  OS, Compiler &amp; Security 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65760" y="271576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Process Flow, Memory Management,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5760" y="299008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Modular code structure, efficient game loops, hashed PIN storage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09160" y="233172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709160" y="2331720"/>
            <a:ext cx="4251960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800600" y="233172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CS23204  |  Human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800600" y="271576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UX, Cognitive Design, Interaction Principles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800600" y="299008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Intuitive UI, retro themes, sound feedback, engaging gameplay experience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4320" y="374904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74320" y="3749040"/>
            <a:ext cx="425196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65760" y="374904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CS23205  |  Python Programming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5760" y="413308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Logic Building, Algorithm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65760" y="440740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Programming fundamentals (implemented in JS) — loops, conditionals, modular coding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709160" y="3749040"/>
            <a:ext cx="425196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709160" y="3749040"/>
            <a:ext cx="4251960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800600" y="374904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CS23206  |  Applied Mathematics - II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00600" y="413308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Concept: Probability, Logic, Graph Theory, Optimization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00600" y="440740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decision-making (Minimax), probability-based mechanics (dice), scoring/reward calculations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AND METHODOLOGY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274320" y="91440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274320" y="914400"/>
            <a:ext cx="64008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02336" y="10058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02336" y="1298448"/>
            <a:ext cx="4023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Iterative feature-branch workflow. Each game module built &amp; tested in isolation before integration.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Sprint 1: SPA shell, player system, UI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Sprint 2: Tic-Tac-Toe, Dots &amp; Boxes, Snakes &amp; Ladders, coin 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Sprint 3: Battleship, Connect Four, Hangman, Memory Match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Sprint 4: Tetris, Pong + final bug-fix sprint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74320" y="2395728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274320" y="2395728"/>
            <a:ext cx="64008" cy="1234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02336" y="248716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Tools &amp; Technologies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02336" y="2779776"/>
            <a:ext cx="40233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HTML5  ·  CSS3 (custom properties)  ·  ES6+ Vanilla JavaScript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 Audio API (procedural sound)  ·  LocalStorage API  ·  SVG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 Tools: VS Code · Chrome DevTools · Git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663440" y="914400"/>
            <a:ext cx="4206240" cy="2715768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754880" y="131673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852160" y="131673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Any OS with a modern browser (Windows, macOS, Linux, Android, iOS)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754880" y="166420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852160" y="16642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Chrome 100+ · Firefox 100+ · Edge 100+ · Safari 15+ · Samsung Internet 20+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754880" y="201168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852160" y="20116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Must be enabled (ES6+)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754880" y="235915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Server/DB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852160" y="23591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None — uses browser LocalStorage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754880" y="2706624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Installation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852160" y="270662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None — open index.html directly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754880" y="305409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852160" y="305409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 required after first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74320" y="3730752"/>
            <a:ext cx="8595360" cy="109728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SCORING &amp; REWARD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7200" y="4023360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Win reward: 10–25 coins (fixed per game, varies by difficulty)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Participation reward: +2 coins for any completed game (win or lose)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Streak bonus: +5 coins for 3 consecutive wins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 Single-Page Application (SPA)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200400" y="160934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Main App Shell (6 Screens)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26280" y="1828800"/>
            <a:ext cx="9144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20040" y="210312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20040" y="2103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20040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App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Boot &amp; Routing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2020824" y="210312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2020824" y="2103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player.js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020824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Player DB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Coin Management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721608" y="210312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721608" y="2103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721608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Screen Manager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Modals &amp; HUD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422392" y="210312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422392" y="2103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sound.js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422392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Web Audio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Sound Engine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123176" y="210312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123176" y="2103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main.css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123176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Styles Themes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CRT Effects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526280" y="2670048"/>
            <a:ext cx="91440" cy="182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274320" y="2871216"/>
            <a:ext cx="274320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274320" y="287121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tictactoe.js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200400" y="2871216"/>
            <a:ext cx="2743200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200400" y="287121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dots.js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126480" y="2871216"/>
            <a:ext cx="274320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126480" y="287121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snl.js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74320" y="3346704"/>
            <a:ext cx="2743200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274320" y="334670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battleship.js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200400" y="3346704"/>
            <a:ext cx="274320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200400" y="334670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connectfour.js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126480" y="3346704"/>
            <a:ext cx="2743200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126480" y="334670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hangman.js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74320" y="3822192"/>
            <a:ext cx="274320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274320" y="38221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memorymatch.js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200400" y="3822192"/>
            <a:ext cx="2743200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200400" y="38221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tetris.js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126480" y="3822192"/>
            <a:ext cx="274320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126480" y="382219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pong.js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 Individual Game Modules — each with own logic, AI, and reward handling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ALGORITHMS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274320" y="1170432"/>
            <a:ext cx="4160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274320" y="1170432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02336" y="126187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Minimax (Tic-Tac-Toe)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02336" y="1554480"/>
            <a:ext cx="3977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Recursively explores every game state. Assigns +10 AI win / -10 AI loss / 0 draw. Always evaluates full tree (max 362,880 states) → unbeatable 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617720" y="1170432"/>
            <a:ext cx="4160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617720" y="1170432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745736" y="126187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Alpha-Beta Pruning (Connect Four)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745736" y="1554480"/>
            <a:ext cx="3977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Minimax on 6×7 board, depth limited to 5. Pruning reduces nodes from O(b^d) to O(b^(d/2)). Heuristic scores centre control and open 2/3/4-disc sequences.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74320" y="2542032"/>
            <a:ext cx="4160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274320" y="2542032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02336" y="263347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Hunt &amp; Target (Battleship)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02336" y="2926080"/>
            <a:ext cx="3977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Hunt mode: fires at random non-adjacent cells. On hit → Target mode: fires at 4 orthogonal neighbours until ship sunk → reverts to Hunt.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617720" y="2542032"/>
            <a:ext cx="416052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617720" y="2542032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745736" y="263347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Heuristic AI (Dots &amp; Boxes)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745736" y="2926080"/>
            <a:ext cx="3977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3-tier strategy: (1) capture any completable box → (2) take safe line that won't give opponent a 3-sided box → (3) random fallback.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74320" y="3977640"/>
            <a:ext cx="859536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LocalStorage Player Schema  (key: retro_players, indexed by player 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57200" y="427024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 — Unique player ID (3–16 alphanumeric chars)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pinHash — SHA-like hash of 4-digit PIN (never plain 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avatar — Chosen emoji (set of 24)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coins — Running 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wins/games — Per-game &amp; total 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streak — Consecutive win 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274320" y="886968"/>
            <a:ext cx="2743200" cy="868680"/>
          </a:xfrm>
          <a:prstGeom prst="rect">
            <a:avLst/>
          </a:prstGeom>
          <a:solidFill>
            <a:srgbClr val="FFE5E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274320" y="88696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11480" y="96012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11480" y="140817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3154680" y="886968"/>
            <a:ext cx="27432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154680" y="88696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291840" y="96012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~4,200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291840" y="140817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Lines of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035040" y="886968"/>
            <a:ext cx="2743200" cy="868680"/>
          </a:xfrm>
          <a:prstGeom prst="rect">
            <a:avLst/>
          </a:prstGeom>
          <a:solidFill>
            <a:srgbClr val="FFE5E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035040" y="88696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6172200" y="96012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172200" y="140817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74320" y="1892808"/>
            <a:ext cx="27432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274320" y="189280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11480" y="196596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&lt;200ms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11480" y="241401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Page Load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154680" y="1892808"/>
            <a:ext cx="2743200" cy="868680"/>
          </a:xfrm>
          <a:prstGeom prst="rect">
            <a:avLst/>
          </a:prstGeom>
          <a:solidFill>
            <a:srgbClr val="FFE5E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3154680" y="189280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3291840" y="196596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&lt;30MB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291840" y="241401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Memory Usage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035040" y="1892808"/>
            <a:ext cx="27432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035040" y="1892808"/>
            <a:ext cx="7315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172200" y="1965960"/>
            <a:ext cx="2542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72200" y="2414016"/>
            <a:ext cx="2542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Supported Browsers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274320" y="2944368"/>
            <a:ext cx="8595360" cy="2926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274320" y="294436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TEST CASES &amp; OUTCOMES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12"/>
          <p:cNvGraphicFramePr/>
          <p:nvPr/>
        </p:nvGraphicFramePr>
        <p:xfrm>
          <a:off x="27432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{98308B00-39EB-43C3-9E46-75562B463069}</a:tableStyleId>
              </a:tblPr>
              <a:tblGrid>
                <a:gridCol w="3474725"/>
                <a:gridCol w="2926075"/>
                <a:gridCol w="2194550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Result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Player login and guest mode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modes accessible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Coin award on Tetris win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 coins added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 (after fix)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Coin award on Pong win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+12 coins added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 (after fix)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Game-over modal for all games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Modal appears with result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LocalStorage persistence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Coins survive page reload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use after first load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features work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INDUSTRY RELEVANCE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💻 Front-End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365760" y="1517904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Demonstrates production-grade proficiency in HTML5, CSS3, and ES6+ JavaScript without any framework dependency — directly applicable to web development roles.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3154680" y="914400"/>
            <a:ext cx="2743200" cy="5486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3246120" y="914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🤖 AI &amp; Algorithm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3246120" y="1517904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Implementation of Minimax, Alpha-Beta pruning, and Hunt &amp; Target AI reflects core CS fundamentals valued in software engineering and game development industries.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03504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035040" y="914400"/>
            <a:ext cx="274320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6126480" y="914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🔐 Cyber Security Principles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126480" y="1517904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PIN hashing, avoiding plain-text storage, and modular security design align with CSIT programme outcomes and industry best practices for client-side security.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7432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274320" y="2852928"/>
            <a:ext cx="2743200" cy="5486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365760" y="285292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📱 PWA &amp; Mobile Readiness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65760" y="3456432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PWA manifest file and responsive layout (360 px–1440 px) position the app for Play Store distribution via Trusted Web Activity (TWA).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15468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3154680" y="2852928"/>
            <a:ext cx="274320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246120" y="285292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🎮 Game Development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246120" y="3456432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State machines, game loops, canvas physics (Pong), and procedural audio via Web Audio API are patterns used directly in the indie game development industry.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03504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035040" y="2852928"/>
            <a:ext cx="2743200" cy="5486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126480" y="285292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☁️ Cloud &amp; Scalability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126480" y="3456432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 is designed to scale — Phase 3 plans WebSocket multiplayer, Firebase/Supabase cloud sync, and tournament brackets, mirroring SaaS platform design.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274320" y="914400"/>
            <a:ext cx="731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457200" y="9692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Fragmented Coin Reward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57200" y="124358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game handled outcomes independently, causing inconsistencies and bugs in coin allocation across the 9 games.   </a:t>
            </a:r>
            <a:r>
              <a:rPr b="1" i="0" lang="en-US" sz="95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Centralized reward via a unified PlayerDB.awardCoins() function followed by synchronized UI updates using UI.updateHUD().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274320" y="1938528"/>
            <a:ext cx="859536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274320" y="1938528"/>
            <a:ext cx="731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457200" y="199339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Inconsistent Game-Over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57200" y="226771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Different games triggered end-game states in different ways, leading to unpredictable modal behavior and missed coin credits.   </a:t>
            </a:r>
            <a:r>
              <a:rPr b="1" i="0" lang="en-US" sz="95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game-ending scenarios standardized through a single modal system using UI.showWinModal(), improving reliability.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74320" y="2962656"/>
            <a:ext cx="859536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274320" y="2962656"/>
            <a:ext cx="731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57200" y="301752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Duplicate Keyboard Listeners (Tetris)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329184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 game restart, keyboard event listeners were registered a second time without removing the previous ones, causing double moves.   </a:t>
            </a:r>
            <a:r>
              <a:rPr b="1" i="0" lang="en-US" sz="95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Implemented proper listener de-registration before each game init to ensure a single active listener at all times.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274320" y="3986784"/>
            <a:ext cx="859536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274320" y="3986784"/>
            <a:ext cx="731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457200" y="404164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Zero-Dependency Audio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57200" y="431596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Providing background music and SFX without any audio files or external libraries, while maintaining a rich multi-layered sound experience.   </a:t>
            </a:r>
            <a:r>
              <a:rPr b="1" i="0" lang="en-US" sz="95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Procedural audio synthesized entirely via Web Audio API oscillators — melody, bass, and harmony layers with 7 tracks and 12 SFX. Zero bytes of audio payload.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ETHICAL CONSIDERATIONS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274320" y="914400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274320" y="914400"/>
            <a:ext cx="4206240" cy="2926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Privacy &amp;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365760" y="1261872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Player PINs are never stored in plain text. A SHA-like hash is applied before saving to LocalStorage. No personal data is transmitted to any server — all data stays on the user's own device.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663440" y="914400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4663440" y="914400"/>
            <a:ext cx="4206240" cy="29260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754880" y="9144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 Ads or Monetization Dark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754880" y="1261872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platform contains zero advertisements. The coin economy is transparent and non-deceptive. Guest mode ensures access to all games without forced registration or data collection.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274320" y="2249424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274320" y="2249424"/>
            <a:ext cx="4206240" cy="2926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365760" y="224942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Accessibility &amp; Inclusivity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65760" y="2596896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Responsive design supports screens from 360 px (budget phones) to 1440 px desktops. Works across 5 major browsers. Fully offline-capable, reducing the digital divide for users with limited internet.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663440" y="2249424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4663440" y="2249424"/>
            <a:ext cx="4206240" cy="29260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754880" y="224942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Academic Integrity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754880" y="2596896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code is originally written by the team. External references (MDN, GeeksforGeeks, W3C specifications) are properly cited. The project declares no plagiarism and acknowledges all borrowed concepts.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274320" y="3584448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274320" y="3584448"/>
            <a:ext cx="4206240" cy="2926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365760" y="35844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Open-Source Community Respect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365760" y="39319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external libraries were used, avoiding license compliance risks. Documentation and open learning resources that guided the project are acknowledged in the References section.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663440" y="3584448"/>
            <a:ext cx="4206240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663440" y="3584448"/>
            <a:ext cx="4206240" cy="29260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4754880" y="35844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Responsible AI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754880" y="39319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opponents are deliberately balanced — not designed to frustrate users. Difficulty is appropriate to each game. AI is transparent in behaviour, with no deceptive or manipulative mechanics.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—  Multiplayer &amp;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Real-time multiplayer via WebSocket communication with simple room codes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New games: Rock-Paper-Scissors, Sudoku — expanding platform variety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Progressive Web App (PWA) framework for mobile device installation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 —  Gamification &amp;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57200" y="25786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Achievement badge system &amp; daily challenge modes rotating every 24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Customizable in-game elements — unlockable skins purchasable with coins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Global tournament brackets with up to 4-player multiplayer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Cloud-based data sync using Firebase / Supabase for cross-device profiles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274320" y="3858768"/>
            <a:ext cx="8595360" cy="31089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274320" y="385876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PWA manifest &amp; icon assets already created — service worker implementation pending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Play Store distribution planned via Trusted Web Activity (TWA)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Retro Game Hub successfully delivers a complete browser-based arcade — proving that core web technologies alone can power complex, interactive applications.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274320" y="1444752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274320" y="1444752"/>
            <a:ext cx="2743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347472" y="14447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9 Fully Functional Games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365760" y="1856232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games playable with consistent design, interaction patterns, and AI opponents.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3154680" y="1444752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3154680" y="1444752"/>
            <a:ext cx="2743200" cy="3657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3227832" y="14447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Persistent Player Profiles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3246120" y="1856232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Coin balances and progress reliably persist across sessions via LocalStorage.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6035040" y="1444752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6035040" y="1444752"/>
            <a:ext cx="2743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6108192" y="144475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Balanced AI Opponents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6126480" y="1856232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Minimax, Alpha-Beta, Hunt/Target &amp; Heuristic AI provide engaging single-player challenge.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274320" y="2834640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347472" y="2834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Responsive Retro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365760" y="3246120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Polished retro theme adapts seamlessly from 360 px mobile to 1440 px desktop.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3154680" y="2834640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3154680" y="2834640"/>
            <a:ext cx="274320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3227832" y="2834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Zero Dependencies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3246120" y="3246120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Entire platform runs on HTML5, CSS3, and Vanilla JS — no framework, no server, no installs.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6035040" y="2834640"/>
            <a:ext cx="2743200" cy="126187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6035040" y="2834640"/>
            <a:ext cx="2743200" cy="3657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6108192" y="2834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✓  Stable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6126480" y="3246120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Reward system, game-over modals, and keyboard listeners unified and bug-free after final sprint.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274320" y="4727448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Built with HTML · CSS · Vanilla JavaScript  |  SSPU Pune  |  BTech CSIT 2025-26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SCHOOL OF CSIT | SSPU PUNE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274320" y="914400"/>
            <a:ext cx="85953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411480" y="95097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[1]  MDN Web Docs — HTML, CSS, and JavaScript Reference.  Mozilla Developer Network.  https://developer.mozilla.org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274320" y="1408176"/>
            <a:ext cx="8595360" cy="42062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411480" y="144475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[2]  Web Audio API Specification.  W3C Working Draft.  https://www.w3.org/TR/webaudio/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74320" y="1901952"/>
            <a:ext cx="85953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411480" y="19385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[3]  Using the Web Storage API (LocalStorage).  MDN Web Docs.  https://developer.mozilla.org/en-US/docs/Web/API/Web_Storage_API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274320" y="2395728"/>
            <a:ext cx="8595360" cy="42062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411480" y="2432304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[4]  Russell, S. and Norvig, P. (2020).  Artificial Intelligence: A Modern Approach, 4th ed.  Pearson.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274320" y="2889504"/>
            <a:ext cx="85953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411480" y="29260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[5]  Minimax Algorithm in Game Theory.  GeeksforGeeks.  https://www.geeksforgeeks.org/minimax-algorithm-in-game-theory-set-1-introduction/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274320" y="3383280"/>
            <a:ext cx="8595360" cy="42062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411480" y="34198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[6]  Alpha-Beta Pruning.  GeeksforGeeks.  https://www.geeksforgeeks.org/minimax-algorithm-in-game-theory-set-4-alpha-beta-pruning/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274320" y="3877056"/>
            <a:ext cx="85953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411480" y="391363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[7]  SVG — Scalable Vector Graphics.  W3C.  https://www.w3.org/Graphics/SVG/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274320" y="4370832"/>
            <a:ext cx="8595360" cy="42062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411480" y="440740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[8]  Progressive Web Apps (PWA).  Google Developers.  https://web.dev/progressive-web-apps/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164592" y="2240280"/>
            <a:ext cx="8814816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164592" y="1188720"/>
            <a:ext cx="8814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64592" y="2377440"/>
            <a:ext cx="88148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Retro Game Hub  |  Group 3  |  BTech CSIT (Cyber Security)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164592" y="2834640"/>
            <a:ext cx="8814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Dristhi Galani  ·  Tanvee Thakre  ·  Atharva Tirkhunde  ·  Rishit Kinge  ·  Shubham Salunke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64592" y="3246120"/>
            <a:ext cx="8814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Under the Guidance of  Prof. Rahul Raut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64592" y="4206240"/>
            <a:ext cx="88148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School of Computer Science and Information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Symbiosis Skills and Professional University, Pune  |  AY 2025-26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